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7c5027b7d4d42" /><Relationship Type="http://schemas.openxmlformats.org/officeDocument/2006/relationships/extended-properties" Target="/docProps/app.xml" Id="R1d881668f09945d4" /><Relationship Type="http://schemas.openxmlformats.org/officeDocument/2006/relationships/officeDocument" Target="/ppt/presentation.xml" Id="R6a13aac3db9b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38e44ebcc4d48"/>
  </p:sldMasterIdLst>
  <p:notesMasterIdLst>
    <p:notesMasterId xmlns:r="http://schemas.openxmlformats.org/officeDocument/2006/relationships" r:id="R0cc0e7f2d3434ad5"/>
  </p:notesMasterIdLst>
  <p:sldIdLst>
    <p:sldId xmlns:r="http://schemas.openxmlformats.org/officeDocument/2006/relationships" id="256" r:id="R0304e6c2d3b34a3f"/>
    <p:sldId xmlns:r="http://schemas.openxmlformats.org/officeDocument/2006/relationships" id="257" r:id="R004b21ed0651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9c44428f5741fd" /><Relationship Type="http://schemas.openxmlformats.org/officeDocument/2006/relationships/slideMaster" Target="/ppt/slideMasters/slideMaster1.xml" Id="R69d38e44ebcc4d48" /><Relationship Type="http://schemas.openxmlformats.org/officeDocument/2006/relationships/notesMaster" Target="/ppt/notesMasters/notesMaster1.xml" Id="R0cc0e7f2d3434ad5" /><Relationship Type="http://schemas.openxmlformats.org/officeDocument/2006/relationships/presProps" Target="/ppt/presProps.xml" Id="R13d3d08112114b1e" /><Relationship Type="http://schemas.openxmlformats.org/officeDocument/2006/relationships/tableStyles" Target="/ppt/tableStyles.xml" Id="Re235d909e2be4a79" /><Relationship Type="http://schemas.openxmlformats.org/officeDocument/2006/relationships/slide" Target="/ppt/slides/slide1.xml" Id="R0304e6c2d3b34a3f" /><Relationship Type="http://schemas.openxmlformats.org/officeDocument/2006/relationships/slide" Target="/ppt/slides/slide2.xml" Id="R004b21ed0651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2116efacd4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3ce4dd157a4797" /><Relationship Type="http://schemas.openxmlformats.org/officeDocument/2006/relationships/notesMaster" Target="/ppt/notesMasters/notesMaster1.xml" Id="Rdb872bf44f92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69ec138d741ef" /><Relationship Type="http://schemas.openxmlformats.org/officeDocument/2006/relationships/notesMaster" Target="/ppt/notesMasters/notesMaster1.xml" Id="Rd5dedc762434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/private/var/folders/8k/k8z7mw9j18v5bs_v0pmztkkw0000gn/T/codex-clipboard-e07d29cc-d6b9-4912-ad5a-387c121681b7.png (user-supplied screenshot; all displayed totals and percentages transcribed from the image)</a:t>
            </a:r>
          </a:p>
          <a:p xmlns:a="http://schemas.openxmlformats.org/drawingml/2006/main">
            <a:r>
              <a:t>- The visible source footer in the screenshot cites Wind, Bloomberg, USDA, 粮油商务网, 我的农产品, and 中信期货研究所.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Rounding note: displayed one-decimal shares may sum to 99.9% or 100.1%.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/private/var/folders/8k/k8z7mw9j18v5bs_v0pmztkkw0000gn/T/codex-clipboard-3858b1a1-01ec-44d7-b2e7-73e95a617ad3.png (user-supplied screenshot; all displayed totals and percentages transcribed from the image)</a:t>
            </a:r>
          </a:p>
          <a:p xmlns:a="http://schemas.openxmlformats.org/drawingml/2006/main">
            <a:r>
              <a:t>- The visible source footer in the screenshot cites Wind, Bloomberg, USDA, 粮油商务网, 我的农产品, and 中信期货研究所.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Rounding note: displayed one-decimal shares may sum to 99.9% or 100.1%.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415915b3f48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2a41c20f54c8e" /><Relationship Type="http://schemas.openxmlformats.org/officeDocument/2006/relationships/slideLayout" Target="/ppt/slideLayouts/slideLayout1.xml" Id="Rac2a40b7f28a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a40b7f28a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609390a1a40c9" /><Relationship Type="http://schemas.openxmlformats.org/officeDocument/2006/relationships/chart" Target="/ppt/slides/charts/chart1.xml" Id="R22079036fd2d466a" /><Relationship Type="http://schemas.openxmlformats.org/officeDocument/2006/relationships/chart" Target="/ppt/slides/charts/chart2.xml" Id="R3460a6cea1d04643" /><Relationship Type="http://schemas.openxmlformats.org/officeDocument/2006/relationships/chart" Target="/ppt/slides/charts/chart3.xml" Id="Ra47b3db171fa4c17" /><Relationship Type="http://schemas.openxmlformats.org/officeDocument/2006/relationships/chart" Target="/ppt/slides/charts/chart4.xml" Id="R642b7062059a4e52" /><Relationship Type="http://schemas.openxmlformats.org/officeDocument/2006/relationships/notesSlide" Target="/ppt/notesSlides/notesSlide1.xml" Id="Rc05dc7d896fa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ee7bb5cb49ec" /><Relationship Type="http://schemas.openxmlformats.org/officeDocument/2006/relationships/chart" Target="/ppt/slides/charts/chart5.xml" Id="Rcc932e52124c4dc3" /><Relationship Type="http://schemas.openxmlformats.org/officeDocument/2006/relationships/chart" Target="/ppt/slides/charts/chart6.xml" Id="Rbb9883440cc948e7" /><Relationship Type="http://schemas.openxmlformats.org/officeDocument/2006/relationships/chart" Target="/ppt/slides/charts/chart7.xml" Id="Rca90ec68dba14576" /><Relationship Type="http://schemas.openxmlformats.org/officeDocument/2006/relationships/chart" Target="/ppt/slides/charts/chart8.xml" Id="R6ceb36c7bcfd4552" /><Relationship Type="http://schemas.openxmlformats.org/officeDocument/2006/relationships/notesSlide" Target="/ppt/notesSlides/notesSlide2.xml" Id="R0867a5da3d8541b6" /></Relationships>
</file>

<file path=ppt/slides/charts/chart1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F1B6C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7"/>
              <c:pt idx="0">
                <c:v>大豆</c:v>
              </c:pt>
              <c:pt idx="1">
                <c:v>花生</c:v>
              </c:pt>
              <c:pt idx="2">
                <c:v>棉籽</c:v>
              </c:pt>
              <c:pt idx="3">
                <c:v>葵花籽</c:v>
              </c:pt>
              <c:pt idx="4">
                <c:v>菜籽</c:v>
              </c:pt>
              <c:pt idx="5">
                <c:v>椰肉干</c:v>
              </c:pt>
              <c:pt idx="6">
                <c:v>棕榈仁</c:v>
              </c:pt>
            </c:strLit>
          </c:cat>
          <c:val>
            <c:numLit>
              <c:formatCode>General</c:formatCode>
              <c:ptCount val="7"/>
              <c:pt idx="0">
                <c:v>60.5</c:v>
              </c:pt>
              <c:pt idx="1">
                <c:v>7.8</c:v>
              </c:pt>
              <c:pt idx="2">
                <c:v>6.6</c:v>
              </c:pt>
              <c:pt idx="3">
                <c:v>7.9</c:v>
              </c:pt>
              <c:pt idx="4">
                <c:v>13.1</c:v>
              </c:pt>
              <c:pt idx="5">
                <c:v>0.9</c:v>
              </c:pt>
              <c:pt idx="6">
                <c:v>3.2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F1B6C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7"/>
              <c:pt idx="0">
                <c:v>大豆</c:v>
              </c:pt>
              <c:pt idx="1">
                <c:v>花生</c:v>
              </c:pt>
              <c:pt idx="2">
                <c:v>棉籽</c:v>
              </c:pt>
              <c:pt idx="3">
                <c:v>葵花籽</c:v>
              </c:pt>
              <c:pt idx="4">
                <c:v>菜籽</c:v>
              </c:pt>
              <c:pt idx="5">
                <c:v>椰肉干</c:v>
              </c:pt>
              <c:pt idx="6">
                <c:v>棕榈仁</c:v>
              </c:pt>
            </c:strLit>
          </c:cat>
          <c:val>
            <c:numLit>
              <c:formatCode>General</c:formatCode>
              <c:ptCount val="7"/>
              <c:pt idx="0">
                <c:v>85.6</c:v>
              </c:pt>
              <c:pt idx="1">
                <c:v>2.3</c:v>
              </c:pt>
              <c:pt idx="2">
                <c:v>0.5</c:v>
              </c:pt>
              <c:pt idx="3">
                <c:v>1.7</c:v>
              </c:pt>
              <c:pt idx="4">
                <c:v>9.8</c:v>
              </c:pt>
              <c:pt idx="5">
                <c:v>0.1</c:v>
              </c:pt>
              <c:pt idx="6">
                <c:v>0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F1B6C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7"/>
              <c:pt idx="0">
                <c:v>大豆</c:v>
              </c:pt>
              <c:pt idx="1">
                <c:v>花生</c:v>
              </c:pt>
              <c:pt idx="2">
                <c:v>棉籽</c:v>
              </c:pt>
              <c:pt idx="3">
                <c:v>葵花籽</c:v>
              </c:pt>
              <c:pt idx="4">
                <c:v>菜籽</c:v>
              </c:pt>
              <c:pt idx="5">
                <c:v>椰肉干</c:v>
              </c:pt>
              <c:pt idx="6">
                <c:v>棕榈仁</c:v>
              </c:pt>
            </c:strLit>
          </c:cat>
          <c:val>
            <c:numLit>
              <c:formatCode>General</c:formatCode>
              <c:ptCount val="7"/>
              <c:pt idx="0">
                <c:v>86.1</c:v>
              </c:pt>
              <c:pt idx="1">
                <c:v>2.2</c:v>
              </c:pt>
              <c:pt idx="2">
                <c:v>0.5</c:v>
              </c:pt>
              <c:pt idx="3">
                <c:v>2.5</c:v>
              </c:pt>
              <c:pt idx="4">
                <c:v>8.6</c:v>
              </c:pt>
              <c:pt idx="5">
                <c:v>0</c:v>
              </c:pt>
              <c:pt idx="6">
                <c:v>0.1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F1B6C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7"/>
              <c:pt idx="0">
                <c:v>大豆</c:v>
              </c:pt>
              <c:pt idx="1">
                <c:v>花生</c:v>
              </c:pt>
              <c:pt idx="2">
                <c:v>棉籽</c:v>
              </c:pt>
              <c:pt idx="3">
                <c:v>葵花籽</c:v>
              </c:pt>
              <c:pt idx="4">
                <c:v>菜籽</c:v>
              </c:pt>
              <c:pt idx="5">
                <c:v>椰肉干</c:v>
              </c:pt>
              <c:pt idx="6">
                <c:v>棕榈仁</c:v>
              </c:pt>
            </c:strLit>
          </c:cat>
          <c:val>
            <c:numLit>
              <c:formatCode>General</c:formatCode>
              <c:ptCount val="7"/>
              <c:pt idx="0">
                <c:v>61.6</c:v>
              </c:pt>
              <c:pt idx="1">
                <c:v>3.7</c:v>
              </c:pt>
              <c:pt idx="2">
                <c:v>6.3</c:v>
              </c:pt>
              <c:pt idx="3">
                <c:v>9</c:v>
              </c:pt>
              <c:pt idx="4">
                <c:v>14.5</c:v>
              </c:pt>
              <c:pt idx="5">
                <c:v>1.1</c:v>
              </c:pt>
              <c:pt idx="6">
                <c:v>3.8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E7681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7"/>
            <c:spPr>
              <a:solidFill xmlns:a="http://schemas.openxmlformats.org/drawingml/2006/main">
                <a:srgbClr val="BFBFBF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8"/>
              <c:pt idx="0">
                <c:v>美国</c:v>
              </c:pt>
              <c:pt idx="1">
                <c:v>中国</c:v>
              </c:pt>
              <c:pt idx="2">
                <c:v>巴西</c:v>
              </c:pt>
              <c:pt idx="3">
                <c:v>阿根廷</c:v>
              </c:pt>
              <c:pt idx="4">
                <c:v>墨西哥</c:v>
              </c:pt>
              <c:pt idx="5">
                <c:v>欧盟27国</c:v>
              </c:pt>
              <c:pt idx="6">
                <c:v>巴拉圭</c:v>
              </c:pt>
              <c:pt idx="7">
                <c:v>其他</c:v>
              </c:pt>
            </c:strLit>
          </c:cat>
          <c:val>
            <c:numLit>
              <c:formatCode>General</c:formatCode>
              <c:ptCount val="8"/>
              <c:pt idx="0">
                <c:v>30.3</c:v>
              </c:pt>
              <c:pt idx="1">
                <c:v>4.7</c:v>
              </c:pt>
              <c:pt idx="2">
                <c:v>38.9</c:v>
              </c:pt>
              <c:pt idx="3">
                <c:v>12.7</c:v>
              </c:pt>
              <c:pt idx="4">
                <c:v>0.1</c:v>
              </c:pt>
              <c:pt idx="5">
                <c:v>0.6</c:v>
              </c:pt>
              <c:pt idx="6">
                <c:v>2.6</c:v>
              </c:pt>
              <c:pt idx="7">
                <c:v>10.2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E7681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7"/>
            <c:spPr>
              <a:solidFill xmlns:a="http://schemas.openxmlformats.org/drawingml/2006/main">
                <a:srgbClr val="BFBFBF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8"/>
              <c:pt idx="0">
                <c:v>美国</c:v>
              </c:pt>
              <c:pt idx="1">
                <c:v>中国</c:v>
              </c:pt>
              <c:pt idx="2">
                <c:v>巴西</c:v>
              </c:pt>
              <c:pt idx="3">
                <c:v>阿根廷</c:v>
              </c:pt>
              <c:pt idx="4">
                <c:v>墨西哥</c:v>
              </c:pt>
              <c:pt idx="5">
                <c:v>欧盟27国</c:v>
              </c:pt>
              <c:pt idx="6">
                <c:v>巴拉圭</c:v>
              </c:pt>
              <c:pt idx="7">
                <c:v>其他</c:v>
              </c:pt>
            </c:strLit>
          </c:cat>
          <c:val>
            <c:numLit>
              <c:formatCode>General</c:formatCode>
              <c:ptCount val="8"/>
              <c:pt idx="0">
                <c:v>32.9</c:v>
              </c:pt>
              <c:pt idx="1">
                <c:v>0.1</c:v>
              </c:pt>
              <c:pt idx="2">
                <c:v>52.9</c:v>
              </c:pt>
              <c:pt idx="3">
                <c:v>4.3</c:v>
              </c:pt>
              <c:pt idx="4">
                <c:v>0</c:v>
              </c:pt>
              <c:pt idx="5">
                <c:v>0.1</c:v>
              </c:pt>
              <c:pt idx="6">
                <c:v>3.4</c:v>
              </c:pt>
              <c:pt idx="7">
                <c:v>6.3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E7681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7"/>
            <c:spPr>
              <a:solidFill xmlns:a="http://schemas.openxmlformats.org/drawingml/2006/main">
                <a:srgbClr val="BFBFBF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8"/>
              <c:pt idx="0">
                <c:v>美国</c:v>
              </c:pt>
              <c:pt idx="1">
                <c:v>中国</c:v>
              </c:pt>
              <c:pt idx="2">
                <c:v>巴西</c:v>
              </c:pt>
              <c:pt idx="3">
                <c:v>阿根廷</c:v>
              </c:pt>
              <c:pt idx="4">
                <c:v>墨西哥</c:v>
              </c:pt>
              <c:pt idx="5">
                <c:v>欧盟27国</c:v>
              </c:pt>
              <c:pt idx="6">
                <c:v>巴拉圭</c:v>
              </c:pt>
              <c:pt idx="7">
                <c:v>其他</c:v>
              </c:pt>
            </c:strLit>
          </c:cat>
          <c:val>
            <c:numLit>
              <c:formatCode>General</c:formatCode>
              <c:ptCount val="8"/>
              <c:pt idx="0">
                <c:v>0.2</c:v>
              </c:pt>
              <c:pt idx="1">
                <c:v>58.9</c:v>
              </c:pt>
              <c:pt idx="2">
                <c:v>0.5</c:v>
              </c:pt>
              <c:pt idx="3">
                <c:v>2.9</c:v>
              </c:pt>
              <c:pt idx="4">
                <c:v>3.8</c:v>
              </c:pt>
              <c:pt idx="5">
                <c:v>8.9</c:v>
              </c:pt>
              <c:pt idx="6">
                <c:v>0</c:v>
              </c:pt>
              <c:pt idx="7">
                <c:v>24.7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view3D>
      <c:rotX val="24"/>
      <c:rotY val="0"/>
      <c:perspective val="22"/>
    </c:view3D>
    <c:plotArea>
      <c:pie3D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E31800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526176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F7B6B2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858585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E7681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E8D4A7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6"/>
            <c:spPr>
              <a:solidFill xmlns:a="http://schemas.openxmlformats.org/drawingml/2006/main">
                <a:srgbClr val="D7DDE8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dPt>
            <c:idx val="7"/>
            <c:spPr>
              <a:solidFill xmlns:a="http://schemas.openxmlformats.org/drawingml/2006/main">
                <a:srgbClr val="BFBFBF"/>
              </a:solidFill>
              <a:ln xmlns:a="http://schemas.openxmlformats.org/drawingml/2006/main" w="571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8"/>
              <c:pt idx="0">
                <c:v>美国</c:v>
              </c:pt>
              <c:pt idx="1">
                <c:v>中国</c:v>
              </c:pt>
              <c:pt idx="2">
                <c:v>巴西</c:v>
              </c:pt>
              <c:pt idx="3">
                <c:v>阿根廷</c:v>
              </c:pt>
              <c:pt idx="4">
                <c:v>墨西哥</c:v>
              </c:pt>
              <c:pt idx="5">
                <c:v>欧盟27国</c:v>
              </c:pt>
              <c:pt idx="6">
                <c:v>巴拉圭</c:v>
              </c:pt>
              <c:pt idx="7">
                <c:v>其他</c:v>
              </c:pt>
            </c:strLit>
          </c:cat>
          <c:val>
            <c:numLit>
              <c:formatCode>General</c:formatCode>
              <c:ptCount val="8"/>
              <c:pt idx="0">
                <c:v>17</c:v>
              </c:pt>
              <c:pt idx="1">
                <c:v>30.7</c:v>
              </c:pt>
              <c:pt idx="2">
                <c:v>14.6</c:v>
              </c:pt>
              <c:pt idx="3">
                <c:v>12.4</c:v>
              </c:pt>
              <c:pt idx="4">
                <c:v>1.7</c:v>
              </c:pt>
              <c:pt idx="5">
                <c:v>4.4</c:v>
              </c:pt>
              <c:pt idx="6">
                <c:v>1</c:v>
              </c:pt>
              <c:pt idx="7">
                <c:v>18.3</c:v>
              </c:pt>
            </c:numLit>
          </c:val>
        </c:ser>
      </c:pie3D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F2516D-0CAC-4291-AE08-8BCB071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全球油料分布（22/23年度）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453252-AFC2-49CE-8212-06E9244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45A3A185-EF5F-4638-BA1C-A65CE213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全球油料产量分布（6.45亿吨）</a:t>
            </a:r>
          </a:p>
        </p:txBody>
      </p:sp>
      <p:sp>
        <p:nvSpPr>
          <p:cNvPr id="4" name="panel-rule-0">
            <a:extLst xmlns:a="http://schemas.openxmlformats.org/drawingml/2006/main">
              <a:ext uri="{FF2B5EF4-FFF2-40B4-BE49-F238E27FC236}">
                <a16:creationId xmlns:a16="http://schemas.microsoft.com/office/drawing/2014/main" id="{D3DEBC89-D2BC-46F6-8C97-0D1FF5DF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95350" y="1619250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079036fd2d466a"/>
          </a:graphicData>
        </a:graphic>
      </p:graphicFrame>
      <p:sp>
        <p:nvSpPr>
          <p:cNvPr id="6" name="pie-label-0-0">
            <a:extLst xmlns:a="http://schemas.openxmlformats.org/drawingml/2006/main">
              <a:ext uri="{FF2B5EF4-FFF2-40B4-BE49-F238E27FC236}">
                <a16:creationId xmlns:a16="http://schemas.microsoft.com/office/drawing/2014/main" id="{A5DC64B6-ABC0-4107-B82D-486572E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6220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大豆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60.5%</a:t>
            </a:r>
          </a:p>
        </p:txBody>
      </p:sp>
      <p:sp>
        <p:nvSpPr>
          <p:cNvPr id="7" name="pie-label-0-6">
            <a:extLst xmlns:a="http://schemas.openxmlformats.org/drawingml/2006/main">
              <a:ext uri="{FF2B5EF4-FFF2-40B4-BE49-F238E27FC236}">
                <a16:creationId xmlns:a16="http://schemas.microsoft.com/office/drawing/2014/main" id="{5A26E3F1-E63C-4FA4-A534-F5DD04E7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棕榈仁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3.2%</a:t>
            </a:r>
          </a:p>
        </p:txBody>
      </p:sp>
      <p:sp>
        <p:nvSpPr>
          <p:cNvPr id="8" name="pie-label-0-5">
            <a:extLst xmlns:a="http://schemas.openxmlformats.org/drawingml/2006/main">
              <a:ext uri="{FF2B5EF4-FFF2-40B4-BE49-F238E27FC236}">
                <a16:creationId xmlns:a16="http://schemas.microsoft.com/office/drawing/2014/main" id="{CA787160-0AD0-4D39-BEBD-6A26C29A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9453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椰肉干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0.9%</a:t>
            </a:r>
          </a:p>
        </p:txBody>
      </p:sp>
      <p:sp>
        <p:nvSpPr>
          <p:cNvPr id="9" name="pie-label-0-4">
            <a:extLst xmlns:a="http://schemas.openxmlformats.org/drawingml/2006/main">
              <a:ext uri="{FF2B5EF4-FFF2-40B4-BE49-F238E27FC236}">
                <a16:creationId xmlns:a16="http://schemas.microsoft.com/office/drawing/2014/main" id="{78F92A3B-CC27-4FF4-A089-4ABD569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599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菜籽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13.1%</a:t>
            </a:r>
          </a:p>
        </p:txBody>
      </p:sp>
      <p:sp>
        <p:nvSpPr>
          <p:cNvPr id="10" name="pie-label-0-3">
            <a:extLst xmlns:a="http://schemas.openxmlformats.org/drawingml/2006/main">
              <a:ext uri="{FF2B5EF4-FFF2-40B4-BE49-F238E27FC236}">
                <a16:creationId xmlns:a16="http://schemas.microsoft.com/office/drawing/2014/main" id="{AF666186-1996-4870-A3CD-B0C66C07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745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葵花籽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7.9%</a:t>
            </a:r>
          </a:p>
        </p:txBody>
      </p:sp>
      <p:sp>
        <p:nvSpPr>
          <p:cNvPr id="11" name="pie-label-0-2">
            <a:extLst xmlns:a="http://schemas.openxmlformats.org/drawingml/2006/main">
              <a:ext uri="{FF2B5EF4-FFF2-40B4-BE49-F238E27FC236}">
                <a16:creationId xmlns:a16="http://schemas.microsoft.com/office/drawing/2014/main" id="{047D7A9B-765F-4060-8394-2FF360D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891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棉籽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6.6%</a:t>
            </a:r>
          </a:p>
        </p:txBody>
      </p:sp>
      <p:sp>
        <p:nvSpPr>
          <p:cNvPr id="12" name="pie-label-0-1">
            <a:extLst xmlns:a="http://schemas.openxmlformats.org/drawingml/2006/main">
              <a:ext uri="{FF2B5EF4-FFF2-40B4-BE49-F238E27FC236}">
                <a16:creationId xmlns:a16="http://schemas.microsoft.com/office/drawing/2014/main" id="{149530DD-8803-4AF5-A677-53E78E85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花生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7.8%</a:t>
            </a:r>
          </a:p>
        </p:txBody>
      </p:sp>
      <p:sp>
        <p:nvSpPr>
          <p:cNvPr id="13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EE51A185-A56E-4ECB-B203-B5F18E9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全球油料出口分布（1.97亿吨）</a:t>
            </a:r>
          </a:p>
        </p:txBody>
      </p:sp>
      <p:sp>
        <p:nvSpPr>
          <p:cNvPr id="14" name="panel-rule-1">
            <a:extLst xmlns:a="http://schemas.openxmlformats.org/drawingml/2006/main">
              <a:ext uri="{FF2B5EF4-FFF2-40B4-BE49-F238E27FC236}">
                <a16:creationId xmlns:a16="http://schemas.microsoft.com/office/drawing/2014/main" id="{97288A3B-3DC0-4464-A633-1B4679E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0675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457950" y="1619250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60a6cea1d04643"/>
          </a:graphicData>
        </a:graphic>
      </p:graphicFrame>
      <p:sp>
        <p:nvSpPr>
          <p:cNvPr id="16" name="pie-label-1-0">
            <a:extLst xmlns:a="http://schemas.openxmlformats.org/drawingml/2006/main">
              <a:ext uri="{FF2B5EF4-FFF2-40B4-BE49-F238E27FC236}">
                <a16:creationId xmlns:a16="http://schemas.microsoft.com/office/drawing/2014/main" id="{D23FF670-4F9D-4D6B-AF63-3DB2B6B7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6220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大豆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85.6%</a:t>
            </a:r>
          </a:p>
        </p:txBody>
      </p:sp>
      <p:sp>
        <p:nvSpPr>
          <p:cNvPr id="17" name="pie-label-1-6">
            <a:extLst xmlns:a="http://schemas.openxmlformats.org/drawingml/2006/main">
              <a:ext uri="{FF2B5EF4-FFF2-40B4-BE49-F238E27FC236}">
                <a16:creationId xmlns:a16="http://schemas.microsoft.com/office/drawing/2014/main" id="{B5082220-D43A-4C73-B43E-4AAB2CB4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棕榈仁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0.0%</a:t>
            </a:r>
          </a:p>
        </p:txBody>
      </p:sp>
      <p:sp>
        <p:nvSpPr>
          <p:cNvPr id="18" name="pie-label-1-5">
            <a:extLst xmlns:a="http://schemas.openxmlformats.org/drawingml/2006/main">
              <a:ext uri="{FF2B5EF4-FFF2-40B4-BE49-F238E27FC236}">
                <a16:creationId xmlns:a16="http://schemas.microsoft.com/office/drawing/2014/main" id="{3E8023B7-2760-443B-A8B7-FD07500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9453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椰肉干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0.1%</a:t>
            </a:r>
          </a:p>
        </p:txBody>
      </p:sp>
      <p:sp>
        <p:nvSpPr>
          <p:cNvPr id="19" name="pie-label-1-4">
            <a:extLst xmlns:a="http://schemas.openxmlformats.org/drawingml/2006/main">
              <a:ext uri="{FF2B5EF4-FFF2-40B4-BE49-F238E27FC236}">
                <a16:creationId xmlns:a16="http://schemas.microsoft.com/office/drawing/2014/main" id="{2FAD4C48-DF2E-48AD-AA2B-B8B0617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599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菜籽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9.8%</a:t>
            </a:r>
          </a:p>
        </p:txBody>
      </p:sp>
      <p:sp>
        <p:nvSpPr>
          <p:cNvPr id="20" name="pie-label-1-3">
            <a:extLst xmlns:a="http://schemas.openxmlformats.org/drawingml/2006/main">
              <a:ext uri="{FF2B5EF4-FFF2-40B4-BE49-F238E27FC236}">
                <a16:creationId xmlns:a16="http://schemas.microsoft.com/office/drawing/2014/main" id="{83C00F48-8277-46F8-891B-215469D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745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葵花籽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1.7%</a:t>
            </a:r>
          </a:p>
        </p:txBody>
      </p:sp>
      <p:sp>
        <p:nvSpPr>
          <p:cNvPr id="21" name="pie-label-1-2">
            <a:extLst xmlns:a="http://schemas.openxmlformats.org/drawingml/2006/main">
              <a:ext uri="{FF2B5EF4-FFF2-40B4-BE49-F238E27FC236}">
                <a16:creationId xmlns:a16="http://schemas.microsoft.com/office/drawing/2014/main" id="{EB6A9FA6-90C8-4123-B409-6FCEDF85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891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棉籽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0.5%</a:t>
            </a:r>
          </a:p>
        </p:txBody>
      </p:sp>
      <p:sp>
        <p:nvSpPr>
          <p:cNvPr id="22" name="pie-label-1-1">
            <a:extLst xmlns:a="http://schemas.openxmlformats.org/drawingml/2006/main">
              <a:ext uri="{FF2B5EF4-FFF2-40B4-BE49-F238E27FC236}">
                <a16:creationId xmlns:a16="http://schemas.microsoft.com/office/drawing/2014/main" id="{42A24833-83ED-4DEC-8E28-47D5B1C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03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花生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2.3%</a:t>
            </a:r>
          </a:p>
        </p:txBody>
      </p:sp>
      <p:sp>
        <p:nvSpPr>
          <p:cNvPr id="23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9B619671-F6FE-4BEF-BE78-AC25A0F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全球油料进口分布（1.93亿吨）</a:t>
            </a:r>
          </a:p>
        </p:txBody>
      </p:sp>
      <p:sp>
        <p:nvSpPr>
          <p:cNvPr id="24" name="panel-rule-2">
            <a:extLst xmlns:a="http://schemas.openxmlformats.org/drawingml/2006/main">
              <a:ext uri="{FF2B5EF4-FFF2-40B4-BE49-F238E27FC236}">
                <a16:creationId xmlns:a16="http://schemas.microsoft.com/office/drawing/2014/main" id="{11E47AE0-9444-40BE-B156-C1ADA030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71" name="Chart"/>
          <p:cNvGraphicFramePr/>
          <p:nvPr/>
        </p:nvGraphicFramePr>
        <p:xfrm>
          <a:off xmlns:a="http://schemas.openxmlformats.org/drawingml/2006/main" x="895350" y="4143375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7b3db171fa4c17"/>
          </a:graphicData>
        </a:graphic>
      </p:graphicFrame>
      <p:sp>
        <p:nvSpPr>
          <p:cNvPr id="26" name="pie-label-2-0">
            <a:extLst xmlns:a="http://schemas.openxmlformats.org/drawingml/2006/main">
              <a:ext uri="{FF2B5EF4-FFF2-40B4-BE49-F238E27FC236}">
                <a16:creationId xmlns:a16="http://schemas.microsoft.com/office/drawing/2014/main" id="{3DF8573C-F7EF-47A8-8192-6A0290ED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8632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大豆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86.1%</a:t>
            </a:r>
          </a:p>
        </p:txBody>
      </p:sp>
      <p:sp>
        <p:nvSpPr>
          <p:cNvPr id="27" name="pie-label-2-6">
            <a:extLst xmlns:a="http://schemas.openxmlformats.org/drawingml/2006/main">
              <a:ext uri="{FF2B5EF4-FFF2-40B4-BE49-F238E27FC236}">
                <a16:creationId xmlns:a16="http://schemas.microsoft.com/office/drawing/2014/main" id="{4623EA47-92EE-4B01-8BA0-6774ECD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棕榈仁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0.1%</a:t>
            </a:r>
          </a:p>
        </p:txBody>
      </p:sp>
      <p:sp>
        <p:nvSpPr>
          <p:cNvPr id="28" name="pie-label-2-5">
            <a:extLst xmlns:a="http://schemas.openxmlformats.org/drawingml/2006/main">
              <a:ext uri="{FF2B5EF4-FFF2-40B4-BE49-F238E27FC236}">
                <a16:creationId xmlns:a16="http://schemas.microsoft.com/office/drawing/2014/main" id="{8B212D50-312D-4AEE-A6DA-ED83ABC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866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椰肉干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0.0%</a:t>
            </a:r>
          </a:p>
        </p:txBody>
      </p:sp>
      <p:sp>
        <p:nvSpPr>
          <p:cNvPr id="29" name="pie-label-2-4">
            <a:extLst xmlns:a="http://schemas.openxmlformats.org/drawingml/2006/main">
              <a:ext uri="{FF2B5EF4-FFF2-40B4-BE49-F238E27FC236}">
                <a16:creationId xmlns:a16="http://schemas.microsoft.com/office/drawing/2014/main" id="{B84F564A-4ADE-44C4-8244-E10B482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012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菜籽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8.6%</a:t>
            </a:r>
          </a:p>
        </p:txBody>
      </p:sp>
      <p:sp>
        <p:nvSpPr>
          <p:cNvPr id="30" name="pie-label-2-3">
            <a:extLst xmlns:a="http://schemas.openxmlformats.org/drawingml/2006/main">
              <a:ext uri="{FF2B5EF4-FFF2-40B4-BE49-F238E27FC236}">
                <a16:creationId xmlns:a16="http://schemas.microsoft.com/office/drawing/2014/main" id="{41EFABA3-D74B-473D-ADB0-AAF13A7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158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葵花籽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2.5%</a:t>
            </a:r>
          </a:p>
        </p:txBody>
      </p:sp>
      <p:sp>
        <p:nvSpPr>
          <p:cNvPr id="31" name="pie-label-2-2">
            <a:extLst xmlns:a="http://schemas.openxmlformats.org/drawingml/2006/main">
              <a:ext uri="{FF2B5EF4-FFF2-40B4-BE49-F238E27FC236}">
                <a16:creationId xmlns:a16="http://schemas.microsoft.com/office/drawing/2014/main" id="{86A1AF7D-0FA2-42F4-9E10-72076FE2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304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棉籽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0.5%</a:t>
            </a:r>
          </a:p>
        </p:txBody>
      </p:sp>
      <p:sp>
        <p:nvSpPr>
          <p:cNvPr id="32" name="pie-label-2-1">
            <a:extLst xmlns:a="http://schemas.openxmlformats.org/drawingml/2006/main">
              <a:ext uri="{FF2B5EF4-FFF2-40B4-BE49-F238E27FC236}">
                <a16:creationId xmlns:a16="http://schemas.microsoft.com/office/drawing/2014/main" id="{00D7813C-3F05-411C-AED2-7BFD822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花生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2.2%</a:t>
            </a:r>
          </a:p>
        </p:txBody>
      </p:sp>
      <p:sp>
        <p:nvSpPr>
          <p:cNvPr id="33" name="panel-title-3">
            <a:extLst xmlns:a="http://schemas.openxmlformats.org/drawingml/2006/main">
              <a:ext uri="{FF2B5EF4-FFF2-40B4-BE49-F238E27FC236}">
                <a16:creationId xmlns:a16="http://schemas.microsoft.com/office/drawing/2014/main" id="{CF6CF68F-CFDA-49F2-B20D-99909083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全球油料压榨分布（5.34亿吨）</a:t>
            </a:r>
          </a:p>
        </p:txBody>
      </p:sp>
      <p:sp>
        <p:nvSpPr>
          <p:cNvPr id="34" name="panel-rule-3">
            <a:extLst xmlns:a="http://schemas.openxmlformats.org/drawingml/2006/main">
              <a:ext uri="{FF2B5EF4-FFF2-40B4-BE49-F238E27FC236}">
                <a16:creationId xmlns:a16="http://schemas.microsoft.com/office/drawing/2014/main" id="{3182F617-8557-4135-B213-E87977D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81" name="Chart"/>
          <p:cNvGraphicFramePr/>
          <p:nvPr/>
        </p:nvGraphicFramePr>
        <p:xfrm>
          <a:off xmlns:a="http://schemas.openxmlformats.org/drawingml/2006/main" x="6457950" y="4143375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2b7062059a4e52"/>
          </a:graphicData>
        </a:graphic>
      </p:graphicFrame>
      <p:sp>
        <p:nvSpPr>
          <p:cNvPr id="36" name="pie-label-3-0">
            <a:extLst xmlns:a="http://schemas.openxmlformats.org/drawingml/2006/main">
              <a:ext uri="{FF2B5EF4-FFF2-40B4-BE49-F238E27FC236}">
                <a16:creationId xmlns:a16="http://schemas.microsoft.com/office/drawing/2014/main" id="{CA132891-DA21-4336-8287-8088EFB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大豆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61.6%</a:t>
            </a:r>
          </a:p>
        </p:txBody>
      </p:sp>
      <p:sp>
        <p:nvSpPr>
          <p:cNvPr id="37" name="pie-label-3-6">
            <a:extLst xmlns:a="http://schemas.openxmlformats.org/drawingml/2006/main">
              <a:ext uri="{FF2B5EF4-FFF2-40B4-BE49-F238E27FC236}">
                <a16:creationId xmlns:a16="http://schemas.microsoft.com/office/drawing/2014/main" id="{F864C366-6970-4AE7-8238-84A22B4D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棕榈仁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3.8%</a:t>
            </a:r>
          </a:p>
        </p:txBody>
      </p:sp>
      <p:sp>
        <p:nvSpPr>
          <p:cNvPr id="38" name="pie-label-3-5">
            <a:extLst xmlns:a="http://schemas.openxmlformats.org/drawingml/2006/main">
              <a:ext uri="{FF2B5EF4-FFF2-40B4-BE49-F238E27FC236}">
                <a16:creationId xmlns:a16="http://schemas.microsoft.com/office/drawing/2014/main" id="{5DA7BA28-1EA3-4AE7-ACD3-1B33650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866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椰肉干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1.1%</a:t>
            </a:r>
          </a:p>
        </p:txBody>
      </p:sp>
      <p:sp>
        <p:nvSpPr>
          <p:cNvPr id="39" name="pie-label-3-4">
            <a:extLst xmlns:a="http://schemas.openxmlformats.org/drawingml/2006/main">
              <a:ext uri="{FF2B5EF4-FFF2-40B4-BE49-F238E27FC236}">
                <a16:creationId xmlns:a16="http://schemas.microsoft.com/office/drawing/2014/main" id="{FCDA5AAB-FE42-4F14-8132-FE5BCA92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7012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菜籽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14.5%</a:t>
            </a:r>
          </a:p>
        </p:txBody>
      </p:sp>
      <p:sp>
        <p:nvSpPr>
          <p:cNvPr id="40" name="pie-label-3-3">
            <a:extLst xmlns:a="http://schemas.openxmlformats.org/drawingml/2006/main">
              <a:ext uri="{FF2B5EF4-FFF2-40B4-BE49-F238E27FC236}">
                <a16:creationId xmlns:a16="http://schemas.microsoft.com/office/drawing/2014/main" id="{D961B73F-334A-48E9-B1B2-2E6EF5F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158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葵花籽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9.0%</a:t>
            </a:r>
          </a:p>
        </p:txBody>
      </p:sp>
      <p:sp>
        <p:nvSpPr>
          <p:cNvPr id="41" name="pie-label-3-2">
            <a:extLst xmlns:a="http://schemas.openxmlformats.org/drawingml/2006/main">
              <a:ext uri="{FF2B5EF4-FFF2-40B4-BE49-F238E27FC236}">
                <a16:creationId xmlns:a16="http://schemas.microsoft.com/office/drawing/2014/main" id="{A5C56E4F-1AFD-4442-8050-FC98FC01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7304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棉籽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6.3%</a:t>
            </a:r>
          </a:p>
        </p:txBody>
      </p:sp>
      <p:sp>
        <p:nvSpPr>
          <p:cNvPr id="42" name="pie-label-3-1">
            <a:extLst xmlns:a="http://schemas.openxmlformats.org/drawingml/2006/main">
              <a:ext uri="{FF2B5EF4-FFF2-40B4-BE49-F238E27FC236}">
                <a16:creationId xmlns:a16="http://schemas.microsoft.com/office/drawing/2014/main" id="{92E8076D-C6B1-4A2E-A97B-B963FBD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花生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3.7%</a:t>
            </a:r>
          </a:p>
        </p:txBody>
      </p:sp>
      <p:sp>
        <p:nvSpPr>
          <p:cNvPr id="43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5741638E-1E01-4022-BC34-28F98FC6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71900"/>
                </a:solidFill>
              </a:defRPr>
            </a:pPr>
            <a:r>
              <a:rPr sz="1275" b="1">
                <a:solidFill>
                  <a:srgbClr val="D71900"/>
                </a:solidFill>
              </a:rPr>
              <a:t>◉  中信期货</a:t>
            </a:r>
          </a:p>
          <a:p xmlns:a="http://schemas.openxmlformats.org/drawingml/2006/main">
            <a:pPr>
              <a:defRPr sz="1275" b="1">
                <a:solidFill>
                  <a:srgbClr val="D71900"/>
                </a:solidFill>
              </a:defRPr>
            </a:pPr>
            <a:r>
              <a:rPr sz="1275" b="1">
                <a:solidFill>
                  <a:srgbClr val="D71900"/>
                </a:solidFill>
              </a:rPr>
              <a:t>     CITIC Futures</a:t>
            </a:r>
          </a:p>
        </p:txBody>
      </p:sp>
      <p:sp>
        <p:nvSpPr>
          <p:cNvPr id="4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168A96-1584-4ECD-854E-EFD5DD2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912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777777"/>
                </a:solidFill>
              </a:defRPr>
            </a:pPr>
            <a:r>
              <a:rPr sz="675">
                <a:solidFill>
                  <a:srgbClr val="777777"/>
                </a:solidFill>
              </a:rPr>
              <a:t>资料来源：Wind  Bloomberg  USDA  粮油商务网  我的农产品  中信期货研究所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731BA7-6684-4DC5-87AE-231313C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72250"/>
            <a:ext cx="843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sp>
        <p:nvSpPr>
          <p:cNvPr id="4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90AE6A-0367-4D2C-80EB-3CDDC4C5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4164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6D888D-83AE-4CE9-A3BD-C521D8FC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全球大豆分布（22/23年度）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51B46B-69EC-4DA6-8478-38B2AF7C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41E908E7-EADB-4C20-BFBC-63B4BB2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全球大豆产量分布（3.91亿吨）</a:t>
            </a:r>
          </a:p>
        </p:txBody>
      </p:sp>
      <p:sp>
        <p:nvSpPr>
          <p:cNvPr id="4" name="panel-rule-0">
            <a:extLst xmlns:a="http://schemas.openxmlformats.org/drawingml/2006/main">
              <a:ext uri="{FF2B5EF4-FFF2-40B4-BE49-F238E27FC236}">
                <a16:creationId xmlns:a16="http://schemas.microsoft.com/office/drawing/2014/main" id="{7D41C550-EB7A-40E3-84E3-AD8C2EC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895350" y="1619250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932e52124c4dc3"/>
          </a:graphicData>
        </a:graphic>
      </p:graphicFrame>
      <p:sp>
        <p:nvSpPr>
          <p:cNvPr id="6" name="pie-label-0-2">
            <a:extLst xmlns:a="http://schemas.openxmlformats.org/drawingml/2006/main">
              <a:ext uri="{FF2B5EF4-FFF2-40B4-BE49-F238E27FC236}">
                <a16:creationId xmlns:a16="http://schemas.microsoft.com/office/drawing/2014/main" id="{7A4A1425-29F2-4DE5-88D1-A9D7E24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6220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巴西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38.9%</a:t>
            </a:r>
          </a:p>
        </p:txBody>
      </p:sp>
      <p:sp>
        <p:nvSpPr>
          <p:cNvPr id="7" name="pie-label-0-7">
            <a:extLst xmlns:a="http://schemas.openxmlformats.org/drawingml/2006/main">
              <a:ext uri="{FF2B5EF4-FFF2-40B4-BE49-F238E27FC236}">
                <a16:creationId xmlns:a16="http://schemas.microsoft.com/office/drawing/2014/main" id="{B96B7BC9-8070-4DEE-8017-73044EAB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其他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10.2%</a:t>
            </a:r>
          </a:p>
        </p:txBody>
      </p:sp>
      <p:sp>
        <p:nvSpPr>
          <p:cNvPr id="8" name="pie-label-0-6">
            <a:extLst xmlns:a="http://schemas.openxmlformats.org/drawingml/2006/main">
              <a:ext uri="{FF2B5EF4-FFF2-40B4-BE49-F238E27FC236}">
                <a16:creationId xmlns:a16="http://schemas.microsoft.com/office/drawing/2014/main" id="{2BE3528F-4779-4B8F-BB25-BCC9E1FC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97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巴拉圭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2.6%</a:t>
            </a:r>
          </a:p>
        </p:txBody>
      </p:sp>
      <p:sp>
        <p:nvSpPr>
          <p:cNvPr id="9" name="pie-label-0-5">
            <a:extLst xmlns:a="http://schemas.openxmlformats.org/drawingml/2006/main">
              <a:ext uri="{FF2B5EF4-FFF2-40B4-BE49-F238E27FC236}">
                <a16:creationId xmlns:a16="http://schemas.microsoft.com/office/drawing/2014/main" id="{E0C2EB2A-4326-4A54-B954-DF3481A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764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欧盟27国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0.6%</a:t>
            </a:r>
          </a:p>
        </p:txBody>
      </p:sp>
      <p:sp>
        <p:nvSpPr>
          <p:cNvPr id="10" name="pie-label-0-4">
            <a:extLst xmlns:a="http://schemas.openxmlformats.org/drawingml/2006/main">
              <a:ext uri="{FF2B5EF4-FFF2-40B4-BE49-F238E27FC236}">
                <a16:creationId xmlns:a16="http://schemas.microsoft.com/office/drawing/2014/main" id="{4AAD03F7-A808-4C46-812A-855C7754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墨西哥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0.1%</a:t>
            </a:r>
          </a:p>
        </p:txBody>
      </p:sp>
      <p:sp>
        <p:nvSpPr>
          <p:cNvPr id="11" name="pie-label-0-3">
            <a:extLst xmlns:a="http://schemas.openxmlformats.org/drawingml/2006/main">
              <a:ext uri="{FF2B5EF4-FFF2-40B4-BE49-F238E27FC236}">
                <a16:creationId xmlns:a16="http://schemas.microsoft.com/office/drawing/2014/main" id="{6837B9D5-D07E-4838-B3CA-08DA3FE7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阿根廷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12.7%</a:t>
            </a:r>
          </a:p>
        </p:txBody>
      </p:sp>
      <p:sp>
        <p:nvSpPr>
          <p:cNvPr id="12" name="pie-label-0-0">
            <a:extLst xmlns:a="http://schemas.openxmlformats.org/drawingml/2006/main">
              <a:ext uri="{FF2B5EF4-FFF2-40B4-BE49-F238E27FC236}">
                <a16:creationId xmlns:a16="http://schemas.microsoft.com/office/drawing/2014/main" id="{7D960549-2232-425D-9D01-8EEB265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美国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30.3%</a:t>
            </a:r>
          </a:p>
        </p:txBody>
      </p:sp>
      <p:sp>
        <p:nvSpPr>
          <p:cNvPr id="13" name="pie-label-0-1">
            <a:extLst xmlns:a="http://schemas.openxmlformats.org/drawingml/2006/main">
              <a:ext uri="{FF2B5EF4-FFF2-40B4-BE49-F238E27FC236}">
                <a16:creationId xmlns:a16="http://schemas.microsoft.com/office/drawing/2014/main" id="{68DC3BB8-F508-4528-BD00-3C505576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97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中国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4.7%</a:t>
            </a:r>
          </a:p>
        </p:txBody>
      </p:sp>
      <p:sp>
        <p:nvSpPr>
          <p:cNvPr id="14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0A4A6D97-69AA-474F-AF7F-2119D85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全球大豆出口分布（1.69亿吨）</a:t>
            </a:r>
          </a:p>
        </p:txBody>
      </p:sp>
      <p:sp>
        <p:nvSpPr>
          <p:cNvPr id="15" name="panel-rule-1">
            <a:extLst xmlns:a="http://schemas.openxmlformats.org/drawingml/2006/main">
              <a:ext uri="{FF2B5EF4-FFF2-40B4-BE49-F238E27FC236}">
                <a16:creationId xmlns:a16="http://schemas.microsoft.com/office/drawing/2014/main" id="{F341B50B-6598-46E8-B7BA-F9719AE5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0675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6457950" y="1619250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9883440cc948e7"/>
          </a:graphicData>
        </a:graphic>
      </p:graphicFrame>
      <p:sp>
        <p:nvSpPr>
          <p:cNvPr id="17" name="pie-label-1-2">
            <a:extLst xmlns:a="http://schemas.openxmlformats.org/drawingml/2006/main">
              <a:ext uri="{FF2B5EF4-FFF2-40B4-BE49-F238E27FC236}">
                <a16:creationId xmlns:a16="http://schemas.microsoft.com/office/drawing/2014/main" id="{F6FDF6CC-0672-4E51-B589-7E0BC33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6220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巴西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52.9%</a:t>
            </a:r>
          </a:p>
        </p:txBody>
      </p:sp>
      <p:sp>
        <p:nvSpPr>
          <p:cNvPr id="18" name="pie-label-1-7">
            <a:extLst xmlns:a="http://schemas.openxmlformats.org/drawingml/2006/main">
              <a:ext uri="{FF2B5EF4-FFF2-40B4-BE49-F238E27FC236}">
                <a16:creationId xmlns:a16="http://schemas.microsoft.com/office/drawing/2014/main" id="{A66EE0ED-7AF8-4BCC-ADEF-7E64A1AF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其他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6.3%</a:t>
            </a:r>
          </a:p>
        </p:txBody>
      </p:sp>
      <p:sp>
        <p:nvSpPr>
          <p:cNvPr id="19" name="pie-label-1-6">
            <a:extLst xmlns:a="http://schemas.openxmlformats.org/drawingml/2006/main">
              <a:ext uri="{FF2B5EF4-FFF2-40B4-BE49-F238E27FC236}">
                <a16:creationId xmlns:a16="http://schemas.microsoft.com/office/drawing/2014/main" id="{C1FD32B7-82E1-4F10-91B7-5CD7A15A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巴拉圭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3.4%</a:t>
            </a:r>
          </a:p>
        </p:txBody>
      </p:sp>
      <p:sp>
        <p:nvSpPr>
          <p:cNvPr id="20" name="pie-label-1-5">
            <a:extLst xmlns:a="http://schemas.openxmlformats.org/drawingml/2006/main">
              <a:ext uri="{FF2B5EF4-FFF2-40B4-BE49-F238E27FC236}">
                <a16:creationId xmlns:a16="http://schemas.microsoft.com/office/drawing/2014/main" id="{C911EB3A-6FD3-4F72-872D-EE7667A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欧盟27国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0.1%</a:t>
            </a:r>
          </a:p>
        </p:txBody>
      </p:sp>
      <p:sp>
        <p:nvSpPr>
          <p:cNvPr id="21" name="pie-label-1-4">
            <a:extLst xmlns:a="http://schemas.openxmlformats.org/drawingml/2006/main">
              <a:ext uri="{FF2B5EF4-FFF2-40B4-BE49-F238E27FC236}">
                <a16:creationId xmlns:a16="http://schemas.microsoft.com/office/drawing/2014/main" id="{0F03A254-18FD-445C-8CA2-D725B4C9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墨西哥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0.0%</a:t>
            </a:r>
          </a:p>
        </p:txBody>
      </p:sp>
      <p:sp>
        <p:nvSpPr>
          <p:cNvPr id="22" name="pie-label-1-3">
            <a:extLst xmlns:a="http://schemas.openxmlformats.org/drawingml/2006/main">
              <a:ext uri="{FF2B5EF4-FFF2-40B4-BE49-F238E27FC236}">
                <a16:creationId xmlns:a16="http://schemas.microsoft.com/office/drawing/2014/main" id="{4F01520D-284D-4961-849A-A46071D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阿根廷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4.3%</a:t>
            </a:r>
          </a:p>
        </p:txBody>
      </p:sp>
      <p:sp>
        <p:nvSpPr>
          <p:cNvPr id="23" name="pie-label-1-0">
            <a:extLst xmlns:a="http://schemas.openxmlformats.org/drawingml/2006/main">
              <a:ext uri="{FF2B5EF4-FFF2-40B4-BE49-F238E27FC236}">
                <a16:creationId xmlns:a16="http://schemas.microsoft.com/office/drawing/2014/main" id="{6EB7D84E-C323-46FE-AB69-23A1812F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43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美国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32.9%</a:t>
            </a:r>
          </a:p>
        </p:txBody>
      </p:sp>
      <p:sp>
        <p:nvSpPr>
          <p:cNvPr id="24" name="pie-label-1-1">
            <a:extLst xmlns:a="http://schemas.openxmlformats.org/drawingml/2006/main">
              <a:ext uri="{FF2B5EF4-FFF2-40B4-BE49-F238E27FC236}">
                <a16:creationId xmlns:a16="http://schemas.microsoft.com/office/drawing/2014/main" id="{5B4C3098-6ACA-4200-9ABE-F0580332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97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中国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0.1%</a:t>
            </a:r>
          </a:p>
        </p:txBody>
      </p:sp>
      <p:sp>
        <p:nvSpPr>
          <p:cNvPr id="25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586BE268-CBFD-4918-B3E8-4010896A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全球大豆进口分布（1.66亿吨）</a:t>
            </a:r>
          </a:p>
        </p:txBody>
      </p:sp>
      <p:sp>
        <p:nvSpPr>
          <p:cNvPr id="26" name="panel-rule-2">
            <a:extLst xmlns:a="http://schemas.openxmlformats.org/drawingml/2006/main">
              <a:ext uri="{FF2B5EF4-FFF2-40B4-BE49-F238E27FC236}">
                <a16:creationId xmlns:a16="http://schemas.microsoft.com/office/drawing/2014/main" id="{F9C5B1B1-151D-45E4-89DE-0526DF70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77" name="Chart"/>
          <p:cNvGraphicFramePr/>
          <p:nvPr/>
        </p:nvGraphicFramePr>
        <p:xfrm>
          <a:off xmlns:a="http://schemas.openxmlformats.org/drawingml/2006/main" x="895350" y="4143375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0ec68dba14576"/>
          </a:graphicData>
        </a:graphic>
      </p:graphicFrame>
      <p:sp>
        <p:nvSpPr>
          <p:cNvPr id="28" name="pie-label-2-1">
            <a:extLst xmlns:a="http://schemas.openxmlformats.org/drawingml/2006/main">
              <a:ext uri="{FF2B5EF4-FFF2-40B4-BE49-F238E27FC236}">
                <a16:creationId xmlns:a16="http://schemas.microsoft.com/office/drawing/2014/main" id="{EE13A022-4760-428D-A15E-035C493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8632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中国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58.9%</a:t>
            </a:r>
          </a:p>
        </p:txBody>
      </p:sp>
      <p:sp>
        <p:nvSpPr>
          <p:cNvPr id="29" name="pie-label-2-7">
            <a:extLst xmlns:a="http://schemas.openxmlformats.org/drawingml/2006/main">
              <a:ext uri="{FF2B5EF4-FFF2-40B4-BE49-F238E27FC236}">
                <a16:creationId xmlns:a16="http://schemas.microsoft.com/office/drawing/2014/main" id="{6F574906-8009-4A27-8BCE-2C03CDA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其他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24.7%</a:t>
            </a:r>
          </a:p>
        </p:txBody>
      </p:sp>
      <p:sp>
        <p:nvSpPr>
          <p:cNvPr id="30" name="pie-label-2-6">
            <a:extLst xmlns:a="http://schemas.openxmlformats.org/drawingml/2006/main">
              <a:ext uri="{FF2B5EF4-FFF2-40B4-BE49-F238E27FC236}">
                <a16:creationId xmlns:a16="http://schemas.microsoft.com/office/drawing/2014/main" id="{BD925313-4E68-4CCB-91A3-176DC42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866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巴拉圭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0.0%</a:t>
            </a:r>
          </a:p>
        </p:txBody>
      </p:sp>
      <p:sp>
        <p:nvSpPr>
          <p:cNvPr id="31" name="pie-label-2-5">
            <a:extLst xmlns:a="http://schemas.openxmlformats.org/drawingml/2006/main">
              <a:ext uri="{FF2B5EF4-FFF2-40B4-BE49-F238E27FC236}">
                <a16:creationId xmlns:a16="http://schemas.microsoft.com/office/drawing/2014/main" id="{2FCD9384-693C-4F8A-AD99-54ABAA2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012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欧盟27国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8.9%</a:t>
            </a:r>
          </a:p>
        </p:txBody>
      </p:sp>
      <p:sp>
        <p:nvSpPr>
          <p:cNvPr id="32" name="pie-label-2-4">
            <a:extLst xmlns:a="http://schemas.openxmlformats.org/drawingml/2006/main">
              <a:ext uri="{FF2B5EF4-FFF2-40B4-BE49-F238E27FC236}">
                <a16:creationId xmlns:a16="http://schemas.microsoft.com/office/drawing/2014/main" id="{52F5D93C-5FD1-4688-8F5F-3C6414A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158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墨西哥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3.8%</a:t>
            </a:r>
          </a:p>
        </p:txBody>
      </p:sp>
      <p:sp>
        <p:nvSpPr>
          <p:cNvPr id="33" name="pie-label-2-3">
            <a:extLst xmlns:a="http://schemas.openxmlformats.org/drawingml/2006/main">
              <a:ext uri="{FF2B5EF4-FFF2-40B4-BE49-F238E27FC236}">
                <a16:creationId xmlns:a16="http://schemas.microsoft.com/office/drawing/2014/main" id="{4DF8CFBC-C557-4DBD-B0E6-43DA6770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304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阿根廷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2.9%</a:t>
            </a:r>
          </a:p>
        </p:txBody>
      </p:sp>
      <p:sp>
        <p:nvSpPr>
          <p:cNvPr id="34" name="pie-label-2-2">
            <a:extLst xmlns:a="http://schemas.openxmlformats.org/drawingml/2006/main">
              <a:ext uri="{FF2B5EF4-FFF2-40B4-BE49-F238E27FC236}">
                <a16:creationId xmlns:a16="http://schemas.microsoft.com/office/drawing/2014/main" id="{7DC5B28C-A64C-4817-981C-F6D6072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巴西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0.5%</a:t>
            </a:r>
          </a:p>
        </p:txBody>
      </p:sp>
      <p:sp>
        <p:nvSpPr>
          <p:cNvPr id="35" name="pie-label-2-0">
            <a:extLst xmlns:a="http://schemas.openxmlformats.org/drawingml/2006/main">
              <a:ext uri="{FF2B5EF4-FFF2-40B4-BE49-F238E27FC236}">
                <a16:creationId xmlns:a16="http://schemas.microsoft.com/office/drawing/2014/main" id="{F33BAC4E-70DD-4B23-A180-74ABDF2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美国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0.2%</a:t>
            </a:r>
          </a:p>
        </p:txBody>
      </p:sp>
      <p:sp>
        <p:nvSpPr>
          <p:cNvPr id="36" name="panel-title-3">
            <a:extLst xmlns:a="http://schemas.openxmlformats.org/drawingml/2006/main">
              <a:ext uri="{FF2B5EF4-FFF2-40B4-BE49-F238E27FC236}">
                <a16:creationId xmlns:a16="http://schemas.microsoft.com/office/drawing/2014/main" id="{52143FCA-C5EF-467A-AA1D-03086CB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1900"/>
                </a:solidFill>
              </a:defRPr>
            </a:pPr>
            <a:r>
              <a:rPr sz="1800" b="1">
                <a:solidFill>
                  <a:srgbClr val="D71900"/>
                </a:solidFill>
              </a:rPr>
              <a:t>全球大豆消费分布（3.8亿吨）</a:t>
            </a:r>
          </a:p>
        </p:txBody>
      </p:sp>
      <p:sp>
        <p:nvSpPr>
          <p:cNvPr id="37" name="panel-rule-3">
            <a:extLst xmlns:a="http://schemas.openxmlformats.org/drawingml/2006/main">
              <a:ext uri="{FF2B5EF4-FFF2-40B4-BE49-F238E27FC236}">
                <a16:creationId xmlns:a16="http://schemas.microsoft.com/office/drawing/2014/main" id="{1DBE4340-DEAB-41D5-9419-91B8984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99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graphicFrame>
        <p:nvGraphicFramePr>
          <p:cNvPr id="88" name="Chart"/>
          <p:cNvGraphicFramePr/>
          <p:nvPr/>
        </p:nvGraphicFramePr>
        <p:xfrm>
          <a:off xmlns:a="http://schemas.openxmlformats.org/drawingml/2006/main" x="6457950" y="4143375"/>
          <a:ext xmlns:a="http://schemas.openxmlformats.org/drawingml/2006/main" cx="4838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eb36c7bcfd4552"/>
          </a:graphicData>
        </a:graphic>
      </p:graphicFrame>
      <p:sp>
        <p:nvSpPr>
          <p:cNvPr id="39" name="pie-label-3-1">
            <a:extLst xmlns:a="http://schemas.openxmlformats.org/drawingml/2006/main">
              <a:ext uri="{FF2B5EF4-FFF2-40B4-BE49-F238E27FC236}">
                <a16:creationId xmlns:a16="http://schemas.microsoft.com/office/drawing/2014/main" id="{BA55320C-B0D9-476C-822A-FDB0F6CA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中国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30.7%</a:t>
            </a:r>
          </a:p>
        </p:txBody>
      </p:sp>
      <p:sp>
        <p:nvSpPr>
          <p:cNvPr id="40" name="pie-label-3-7">
            <a:extLst xmlns:a="http://schemas.openxmlformats.org/drawingml/2006/main">
              <a:ext uri="{FF2B5EF4-FFF2-40B4-BE49-F238E27FC236}">
                <a16:creationId xmlns:a16="http://schemas.microsoft.com/office/drawing/2014/main" id="{467D76CF-7C2E-41C8-998B-29CA0D7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其他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18.3%</a:t>
            </a:r>
          </a:p>
        </p:txBody>
      </p:sp>
      <p:sp>
        <p:nvSpPr>
          <p:cNvPr id="41" name="pie-label-3-6">
            <a:extLst xmlns:a="http://schemas.openxmlformats.org/drawingml/2006/main">
              <a:ext uri="{FF2B5EF4-FFF2-40B4-BE49-F238E27FC236}">
                <a16:creationId xmlns:a16="http://schemas.microsoft.com/office/drawing/2014/main" id="{3709A20F-A3B2-4843-9F8A-88EACA9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866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巴拉圭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1.0%</a:t>
            </a:r>
          </a:p>
        </p:txBody>
      </p:sp>
      <p:sp>
        <p:nvSpPr>
          <p:cNvPr id="42" name="pie-label-3-5">
            <a:extLst xmlns:a="http://schemas.openxmlformats.org/drawingml/2006/main">
              <a:ext uri="{FF2B5EF4-FFF2-40B4-BE49-F238E27FC236}">
                <a16:creationId xmlns:a16="http://schemas.microsoft.com/office/drawing/2014/main" id="{386DABE5-1982-438F-B08B-3E88F9B9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7012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欧盟27国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4.4%</a:t>
            </a:r>
          </a:p>
        </p:txBody>
      </p:sp>
      <p:sp>
        <p:nvSpPr>
          <p:cNvPr id="43" name="pie-label-3-4">
            <a:extLst xmlns:a="http://schemas.openxmlformats.org/drawingml/2006/main">
              <a:ext uri="{FF2B5EF4-FFF2-40B4-BE49-F238E27FC236}">
                <a16:creationId xmlns:a16="http://schemas.microsoft.com/office/drawing/2014/main" id="{BC112B89-862B-415B-9657-326C558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158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墨西哥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1.7%</a:t>
            </a:r>
          </a:p>
        </p:txBody>
      </p:sp>
      <p:sp>
        <p:nvSpPr>
          <p:cNvPr id="44" name="pie-label-3-3">
            <a:extLst xmlns:a="http://schemas.openxmlformats.org/drawingml/2006/main">
              <a:ext uri="{FF2B5EF4-FFF2-40B4-BE49-F238E27FC236}">
                <a16:creationId xmlns:a16="http://schemas.microsoft.com/office/drawing/2014/main" id="{89919CC8-57B6-4760-B1AE-53747676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7304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阿根廷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12.4%</a:t>
            </a:r>
          </a:p>
        </p:txBody>
      </p:sp>
      <p:sp>
        <p:nvSpPr>
          <p:cNvPr id="45" name="pie-label-3-2">
            <a:extLst xmlns:a="http://schemas.openxmlformats.org/drawingml/2006/main">
              <a:ext uri="{FF2B5EF4-FFF2-40B4-BE49-F238E27FC236}">
                <a16:creationId xmlns:a16="http://schemas.microsoft.com/office/drawing/2014/main" id="{521E785C-AC33-4BEC-A448-EB5E93F1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巴西</a:t>
            </a:r>
          </a:p>
          <a:p xmlns:a="http://schemas.openxmlformats.org/drawingml/2006/main">
            <a:pPr algn="r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14.6%</a:t>
            </a:r>
          </a:p>
        </p:txBody>
      </p:sp>
      <p:sp>
        <p:nvSpPr>
          <p:cNvPr id="46" name="pie-label-3-0">
            <a:extLst xmlns:a="http://schemas.openxmlformats.org/drawingml/2006/main">
              <a:ext uri="{FF2B5EF4-FFF2-40B4-BE49-F238E27FC236}">
                <a16:creationId xmlns:a16="http://schemas.microsoft.com/office/drawing/2014/main" id="{3D1D3BE9-B8E9-409B-B13D-ADE96CF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768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美国</a:t>
            </a:r>
          </a:p>
          <a:p xmlns:a="http://schemas.openxmlformats.org/drawingml/2006/main">
            <a:pPr algn="l">
              <a:defRPr sz="750">
                <a:solidFill>
                  <a:srgbClr val="111111"/>
                </a:solidFill>
              </a:defRPr>
            </a:pPr>
            <a:r>
              <a:rPr sz="750">
                <a:solidFill>
                  <a:srgbClr val="111111"/>
                </a:solidFill>
              </a:rPr>
              <a:t>17.0%</a:t>
            </a:r>
          </a:p>
        </p:txBody>
      </p:sp>
      <p:sp>
        <p:nvSpPr>
          <p:cNvPr id="4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5DED25B-772A-4307-BB8F-7F15A2A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71900"/>
                </a:solidFill>
              </a:defRPr>
            </a:pPr>
            <a:r>
              <a:rPr sz="1275" b="1">
                <a:solidFill>
                  <a:srgbClr val="D71900"/>
                </a:solidFill>
              </a:rPr>
              <a:t>◉  中信期货</a:t>
            </a:r>
          </a:p>
          <a:p xmlns:a="http://schemas.openxmlformats.org/drawingml/2006/main">
            <a:pPr>
              <a:defRPr sz="1275" b="1">
                <a:solidFill>
                  <a:srgbClr val="D71900"/>
                </a:solidFill>
              </a:defRPr>
            </a:pPr>
            <a:r>
              <a:rPr sz="1275" b="1">
                <a:solidFill>
                  <a:srgbClr val="D71900"/>
                </a:solidFill>
              </a:rPr>
              <a:t>     CITIC Futures</a:t>
            </a:r>
          </a:p>
        </p:txBody>
      </p:sp>
      <p:sp>
        <p:nvSpPr>
          <p:cNvPr id="4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DE928BF-2BA4-4A29-AAD3-216328D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912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777777"/>
                </a:solidFill>
              </a:defRPr>
            </a:pPr>
            <a:r>
              <a:rPr sz="675">
                <a:solidFill>
                  <a:srgbClr val="777777"/>
                </a:solidFill>
              </a:rPr>
              <a:t>资料来源：Wind  Bloomberg  USDA  粮油商务网  我的农产品  中信期货研究所</a:t>
            </a:r>
          </a:p>
        </p:txBody>
      </p:sp>
      <p:sp>
        <p:nvSpPr>
          <p:cNvPr id="4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0DB3FED-9E29-4898-B071-513DB9E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72250"/>
            <a:ext cx="843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00"/>
          </a:solidFill>
          <a:ln xmlns:a="http://schemas.openxmlformats.org/drawingml/2006/main" w="0">
            <a:solidFill>
              <a:srgbClr val="D71900"/>
            </a:solidFill>
            <a:prstDash val="solid"/>
          </a:ln>
        </p:spPr>
      </p:sp>
      <p:sp>
        <p:nvSpPr>
          <p:cNvPr id="5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3955D8-EC0F-4209-BA08-1F9DCE4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6348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2026-08-01T02:22:35.7610000Z</dcterms:created>
  <dcterms:modified xsi:type="dcterms:W3CDTF">2026-08-01T02:22:35.7610000Z</dcterms:modified>
</coreProperties>
</file>